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오늘 주제(컴퓨터·마우스)와 1회차 1시수임을 보여준다. 학생 이름 부르며 인사.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끝나면 학생이 할 수 있게 될 3가지. 한 줄씩 천천히 읽어준다.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마우스가 실제로 언제 쓰이는지 생활 장면으로 연결. 학생들에게 '집에서 컴퓨터 써봤어요?' 질문.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단어 4개를 그림과 함께 먼저 소개. 다음 슬라이드부터 하나씩 자세히.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개념① 큰 그림 한 장으로 마우스를 어떻게 잡는지 보여준다. 교사가 직접 손 모양 시범.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개념① 자세히. 화면의 버튼·휠 위치를 [대괄호] 버튼 이름으로 짚어준다.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개념② 큰 그림. 마우스 이동 → 화살표 이동의 연결을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개념② 자세히. 책상 끝에 닿으면 들어서 옮기는 요령까지.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개념③. 클릭과 더블클릭의 차이(한 번 vs 빠르게 두 번)를 나란히 비교.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배운 4동작을 표로 비교 정리. 복습용.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화면의 커서와 버튼 모양을 화살표로 짚어준다. [확인][다음] 같은 버튼 이름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동작 흐름을 ①→②→③로 정리. 다음 실습에서 이 순서대로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자주 하는 실수 2가지를 주황 주의 박스로. 실습 전에 미리 알려준다.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이어지는 실습 「마우스 미션」의 완성 모습 미리보기. 학생 결과물이 남는다.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가벼운 OX/고르기 2개로 이해 점검. 정답을 함께 보여준다. (직접 조작 실습 아님)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실습(인터랙티브 HTML)으로 연결. 종료/마무리 인사 슬라이드는 만들지 않음(앱의 '수업 마치기' 버튼으로 대체).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/>
        </p:spPr>
      </p:sp>
      <p:sp>
        <p:nvSpPr>
          <p:cNvPr id="3" name="Shape 1"/>
          <p:cNvSpPr/>
          <p:nvPr/>
        </p:nvSpPr>
        <p:spPr>
          <a:xfrm>
            <a:off x="5318608" y="1005840"/>
            <a:ext cx="1554480" cy="1554480"/>
          </a:xfrm>
          <a:prstGeom prst="ellipse">
            <a:avLst/>
          </a:prstGeom>
          <a:solidFill>
            <a:srgbClr val="E8F1FE"/>
          </a:solidFill>
          <a:ln/>
        </p:spPr>
      </p:sp>
      <p:sp>
        <p:nvSpPr>
          <p:cNvPr id="4" name="Text 2"/>
          <p:cNvSpPr/>
          <p:nvPr/>
        </p:nvSpPr>
        <p:spPr>
          <a:xfrm>
            <a:off x="5318608" y="10058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🖱️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컴퓨터와 마우스 친해지기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37033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Làm quen với máy tính và chuột  ·  Знакомство с компьютером и мышью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15688" y="4434840"/>
            <a:ext cx="2560320" cy="502920"/>
          </a:xfrm>
          <a:prstGeom prst="roundRect">
            <a:avLst>
              <a:gd name="adj" fmla="val 49091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815688" y="4434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1회차 · 1시수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521208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마우스를 잡고, 움직이고, 눌러 봅니다.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2926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목표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17043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Mục tiêu hôm nay  ·  Цель сегодня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258568"/>
            <a:ext cx="749808" cy="749808"/>
          </a:xfrm>
          <a:prstGeom prst="ellipse">
            <a:avLst/>
          </a:prstGeom>
          <a:solidFill>
            <a:srgbClr val="E8F1FE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25856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🖐️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965960" y="22402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마우스를 바르게 잡을 수 있어요.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965960" y="273405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Cầm chuột đúng cách · Правильно держать мышь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42900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60120" y="3630168"/>
            <a:ext cx="749808" cy="749808"/>
          </a:xfrm>
          <a:prstGeom prst="ellipse">
            <a:avLst/>
          </a:prstGeom>
          <a:solidFill>
            <a:srgbClr val="E8F1FE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63016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➡️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965960" y="36118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화살표를 움직일 수 있어요.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965960" y="410565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 chuyển con trỏ · Двигать курсор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80060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0120" y="5001768"/>
            <a:ext cx="749808" cy="749808"/>
          </a:xfrm>
          <a:prstGeom prst="ellipse">
            <a:avLst/>
          </a:prstGeom>
          <a:solidFill>
            <a:srgbClr val="E8F1FE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500176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👆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965960" y="49834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클릭과 더블클릭을 할 수 있어요.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965960" y="547725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Nhấp &amp; nhấp đúp · Клик и двойной клик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2926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필요할까요?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17043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Tại sao cần? · Зачем это нужно?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컴퓨터에서 무엇을 고르거나 누를 때, 우리는 마우스를 씁니다.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57400" y="2971800"/>
            <a:ext cx="914400" cy="914400"/>
          </a:xfrm>
          <a:prstGeom prst="ellipse">
            <a:avLst/>
          </a:prstGeom>
          <a:solidFill>
            <a:srgbClr val="E8F1FE"/>
          </a:solidFill>
          <a:ln/>
        </p:spPr>
      </p:sp>
      <p:sp>
        <p:nvSpPr>
          <p:cNvPr id="8" name="Text 6"/>
          <p:cNvSpPr/>
          <p:nvPr/>
        </p:nvSpPr>
        <p:spPr>
          <a:xfrm>
            <a:off x="2057400" y="2971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🌐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인터넷 보기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46177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버튼·링크 누르기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80560" y="265176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715000" y="2971800"/>
            <a:ext cx="914400" cy="914400"/>
          </a:xfrm>
          <a:prstGeom prst="ellipse">
            <a:avLst/>
          </a:prstGeom>
          <a:solidFill>
            <a:srgbClr val="E8F1FE"/>
          </a:solidFill>
          <a:ln/>
        </p:spPr>
      </p:sp>
      <p:sp>
        <p:nvSpPr>
          <p:cNvPr id="13" name="Text 11"/>
          <p:cNvSpPr/>
          <p:nvPr/>
        </p:nvSpPr>
        <p:spPr>
          <a:xfrm>
            <a:off x="5715000" y="2971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📚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480560" y="4114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공부하기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480560" y="46177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글자·그림 고르기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38160" y="265176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372600" y="2971800"/>
            <a:ext cx="914400" cy="914400"/>
          </a:xfrm>
          <a:prstGeom prst="ellipse">
            <a:avLst/>
          </a:prstGeom>
          <a:solidFill>
            <a:srgbClr val="E8F1FE"/>
          </a:solidFill>
          <a:ln/>
        </p:spPr>
      </p:sp>
      <p:sp>
        <p:nvSpPr>
          <p:cNvPr id="18" name="Text 16"/>
          <p:cNvSpPr/>
          <p:nvPr/>
        </p:nvSpPr>
        <p:spPr>
          <a:xfrm>
            <a:off x="9372600" y="2971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🎮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138160" y="4114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게임·연습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138160" y="46177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움직이기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2926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단어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17043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Từ vựng hôm nay · Слова сегодня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03120"/>
            <a:ext cx="868680" cy="868680"/>
          </a:xfrm>
          <a:prstGeom prst="ellipse">
            <a:avLst/>
          </a:prstGeom>
          <a:solidFill>
            <a:srgbClr val="E8F1F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03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🖱️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965960" y="21031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마우스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965960" y="2624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chuột · мышь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31089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화면의 화살표를 움직이는 도구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36792" y="178308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11112" y="2103120"/>
            <a:ext cx="868680" cy="868680"/>
          </a:xfrm>
          <a:prstGeom prst="ellipse">
            <a:avLst/>
          </a:prstGeom>
          <a:solidFill>
            <a:srgbClr val="E8F1FE"/>
          </a:solidFill>
          <a:ln/>
        </p:spPr>
      </p:sp>
      <p:sp>
        <p:nvSpPr>
          <p:cNvPr id="13" name="Text 11"/>
          <p:cNvSpPr/>
          <p:nvPr/>
        </p:nvSpPr>
        <p:spPr>
          <a:xfrm>
            <a:off x="6611112" y="2103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➡️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662672" y="21031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화살표(커서)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62672" y="2624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 trỏ · курсор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56832" y="31089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움직이는 작은 표시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406908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4389120"/>
            <a:ext cx="868680" cy="868680"/>
          </a:xfrm>
          <a:prstGeom prst="ellipse">
            <a:avLst/>
          </a:prstGeom>
          <a:solidFill>
            <a:srgbClr val="E8F1FE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389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👆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965960" y="43891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965960" y="4910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nhấp chuột · клик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53949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버튼을 한 번 누르기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36792" y="406908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11112" y="4389120"/>
            <a:ext cx="868680" cy="868680"/>
          </a:xfrm>
          <a:prstGeom prst="ellipse">
            <a:avLst/>
          </a:prstGeom>
          <a:solidFill>
            <a:srgbClr val="E8F1FE"/>
          </a:solidFill>
          <a:ln/>
        </p:spPr>
      </p:sp>
      <p:sp>
        <p:nvSpPr>
          <p:cNvPr id="25" name="Text 23"/>
          <p:cNvSpPr/>
          <p:nvPr/>
        </p:nvSpPr>
        <p:spPr>
          <a:xfrm>
            <a:off x="6611112" y="4389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✌️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662672" y="43891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더블클릭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662672" y="4910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nhấp đúp · двойной клик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56832" y="53949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빠르게 두 번 누르기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2926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마우스 바르게 잡기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17043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Cầm chuột đúng cách · Держать мышь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280160" y="2286000"/>
            <a:ext cx="2377440" cy="2377440"/>
          </a:xfrm>
          <a:prstGeom prst="ellipse">
            <a:avLst/>
          </a:prstGeom>
          <a:solidFill>
            <a:srgbClr val="E8F1FE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28600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🖐️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297680" y="2468880"/>
            <a:ext cx="7132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손바닥을 마우스 위에 살짝 올려요.</a:t>
            </a:r>
            <a:endParaRPr lang="en-US" sz="2200" dirty="0"/>
          </a:p>
          <a:p>
            <a:pPr marL="228600" indent="-2286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둘째 손가락은 왼쪽 버튼 위에.</a:t>
            </a:r>
            <a:endParaRPr lang="en-US" sz="2200" dirty="0"/>
          </a:p>
          <a:p>
            <a:pPr marL="228600" indent="-2286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너무 꽉 쥐지 말고 편하게.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2926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마우스에는 무엇이 있을까?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7FAFF"/>
          </a:solidFill>
          <a:ln w="12700">
            <a:solidFill>
              <a:srgbClr val="D6DCE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0312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🖱️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640080" y="52120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마우스를 위에서 본 모습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196596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[왼쪽 버튼]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732520" y="19659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많이 눌러요. 클릭!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09360" y="329184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[오른쪽 버튼]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32520" y="32918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메뉴를 열 때 써요.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09360" y="46177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4617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[가운데 휠]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32520" y="46177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위아래로 굴려서 화면 이동.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2926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마우스 움직이기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17043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 chuyển chuột · Двигать мышь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280160" y="2286000"/>
            <a:ext cx="2377440" cy="2377440"/>
          </a:xfrm>
          <a:prstGeom prst="ellipse">
            <a:avLst/>
          </a:prstGeom>
          <a:solidFill>
            <a:srgbClr val="E7F7EE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28600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➡️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297680" y="2560320"/>
            <a:ext cx="7132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마우스를 움직이면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화면의 화살표도 함께 움직여요.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297680" y="411480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책상 위에서 살살 움직이면 됩니다.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2926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화살표를 원하는 곳으로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3108960"/>
          </a:xfrm>
          <a:prstGeom prst="roundRect">
            <a:avLst>
              <a:gd name="adj" fmla="val 2941"/>
            </a:avLst>
          </a:prstGeom>
          <a:solidFill>
            <a:srgbClr val="F7FAFF"/>
          </a:solidFill>
          <a:ln w="12700">
            <a:solidFill>
              <a:srgbClr val="D6DCE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28600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마우스를  오른쪽 →  움직이면   화살표도  오른쪽 →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0" y="32004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🖱️</a:t>
            </a:r>
            <a:endParaRPr lang="en-US" sz="7000" dirty="0"/>
          </a:p>
        </p:txBody>
      </p:sp>
      <p:sp>
        <p:nvSpPr>
          <p:cNvPr id="7" name="Text 5"/>
          <p:cNvSpPr/>
          <p:nvPr/>
        </p:nvSpPr>
        <p:spPr>
          <a:xfrm>
            <a:off x="4937760" y="32004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➡️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046720" y="32004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🔼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822960" y="4617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(마우스)                       (움직임)                       (화면 화살표)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303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마우스가 책상 끝에 닿으면, 살짝 들어서 가운데로 다시 놓아요.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2926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클릭과 더블클릭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17043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Nhấp &amp; nhấp đúp · Клик и двойной клик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697480" y="2286000"/>
            <a:ext cx="1097280" cy="1097280"/>
          </a:xfrm>
          <a:prstGeom prst="ellipse">
            <a:avLst/>
          </a:prstGeom>
          <a:solidFill>
            <a:srgbClr val="E8F1FE"/>
          </a:solidFill>
          <a:ln/>
        </p:spPr>
      </p:sp>
      <p:sp>
        <p:nvSpPr>
          <p:cNvPr id="7" name="Text 5"/>
          <p:cNvSpPr/>
          <p:nvPr/>
        </p:nvSpPr>
        <p:spPr>
          <a:xfrm>
            <a:off x="2697480" y="22860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👆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41148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버튼을 한 번 '딸깍'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고르기 · 누르기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192024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366760" y="2286000"/>
            <a:ext cx="1097280" cy="1097280"/>
          </a:xfrm>
          <a:prstGeom prst="ellipse">
            <a:avLst/>
          </a:prstGeom>
          <a:solidFill>
            <a:srgbClr val="E7F7EE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22860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✌️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309360" y="35204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더블클릭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09360" y="41148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빠르게 두 번 '딸깍딸깍'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09360" y="47091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열기 · 시작하기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2926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한눈에 정리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17043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Tóm tắt · Кратко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11680"/>
          <a:ext cx="10515600" cy="36576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365760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동작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어떻게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언제 써요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D4ED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잡기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손을 편하게 올리기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시작할 때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D4ED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움직이기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책상에서 살살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화살표 옮길 때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D4ED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클릭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번 딸깍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고르기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D4ED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더블클릭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빠르게 두 번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열기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2926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찾아보기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4023360"/>
          </a:xfrm>
          <a:prstGeom prst="roundRect">
            <a:avLst>
              <a:gd name="adj" fmla="val 2273"/>
            </a:avLst>
          </a:prstGeom>
          <a:solidFill>
            <a:srgbClr val="F7FAFF"/>
          </a:solidFill>
          <a:ln w="12700">
            <a:solidFill>
              <a:srgbClr val="D6DCE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2286000"/>
            <a:ext cx="978408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6DC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0" y="29260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🔼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035040" y="3154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← 이것이 화면 화살표(커서)예요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828800" y="411480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4114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[확인]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566160" y="411480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4114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[다음]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03520" y="4114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버튼은 이렇게 생겼어요. 화살표를 올리고 클릭!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화면에서 화살표와 버튼을 찾아봅니다.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2926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 한눈에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17043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Theo thứ tự · По порядку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" y="274320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880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05840" y="33832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🖐️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005840" y="4251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잡기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749040" y="2743200"/>
            <a:ext cx="1097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4846320" y="274320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2880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846320" y="33832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➡️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846320" y="4251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움직이기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589520" y="2743200"/>
            <a:ext cx="1097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4000" dirty="0"/>
          </a:p>
        </p:txBody>
      </p:sp>
      <p:sp>
        <p:nvSpPr>
          <p:cNvPr id="15" name="Shape 13"/>
          <p:cNvSpPr/>
          <p:nvPr/>
        </p:nvSpPr>
        <p:spPr>
          <a:xfrm>
            <a:off x="8686800" y="274320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0" y="2880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686800" y="33832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👆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686800" y="4251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2926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/ 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조심할 점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17043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Hãy cẩn thận · Будьте осторожны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0881360" cy="1554480"/>
          </a:xfrm>
          <a:prstGeom prst="roundRect">
            <a:avLst>
              <a:gd name="adj" fmla="val 5882"/>
            </a:avLst>
          </a:prstGeom>
          <a:solidFill>
            <a:srgbClr val="FFF3E0"/>
          </a:solidFill>
          <a:ln w="12700">
            <a:solidFill>
              <a:srgbClr val="F0C89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377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011680" y="235915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268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마우스를 책상에서 들지 않아요.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011680" y="294436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바닥에 대고 살살 움직여요.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977640"/>
            <a:ext cx="10881360" cy="1554480"/>
          </a:xfrm>
          <a:prstGeom prst="roundRect">
            <a:avLst>
              <a:gd name="adj" fmla="val 5882"/>
            </a:avLst>
          </a:prstGeom>
          <a:solidFill>
            <a:srgbClr val="FFF3E0"/>
          </a:solidFill>
          <a:ln w="12700">
            <a:solidFill>
              <a:srgbClr val="F0C89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4251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011680" y="423367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268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버튼을 너무 세게 누르지 않아요.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11680" y="48188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가볍게 '딸깍'이면 충분해요.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2926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/ 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걸 해 볼 거예요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17043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Sẽ làm thế này · Будем делать так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881360" cy="3657600"/>
          </a:xfrm>
          <a:prstGeom prst="roundRect">
            <a:avLst>
              <a:gd name="adj" fmla="val 2500"/>
            </a:avLst>
          </a:prstGeom>
          <a:solidFill>
            <a:srgbClr val="F7FAFF"/>
          </a:solidFill>
          <a:ln w="12700">
            <a:solidFill>
              <a:srgbClr val="D6DCE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057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  마우스 미션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188720" y="283464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6DCE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88720" y="2834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🍎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2834640" y="283464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6DCE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34640" y="2834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🚗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4480560" y="283464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6DCE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0" y="2834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🐶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309360" y="283464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드래그 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9600" y="2697480"/>
            <a:ext cx="3017520" cy="1645920"/>
          </a:xfrm>
          <a:prstGeom prst="roundRect">
            <a:avLst>
              <a:gd name="adj" fmla="val 6667"/>
            </a:avLst>
          </a:prstGeom>
          <a:solidFill>
            <a:srgbClr val="E7F7EE"/>
          </a:solidFill>
          <a:ln w="19050">
            <a:solidFill>
              <a:srgbClr val="A6E0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3611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상자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47091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마우스로 그림 카드를 움직여 상자에 넣는 게임을 해요.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2926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/ 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이해 확인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17043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Kiểm tra · Проверим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0881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33172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Q1.  더블클릭은 천천히 두 번 누른다?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005840" y="2971800"/>
            <a:ext cx="10149840" cy="502920"/>
          </a:xfrm>
          <a:prstGeom prst="roundRect">
            <a:avLst>
              <a:gd name="adj" fmla="val 14545"/>
            </a:avLst>
          </a:prstGeom>
          <a:solidFill>
            <a:srgbClr val="E7F7EE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97180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정답:  X  — 빠르게 두 번 눌러요.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977640"/>
            <a:ext cx="10881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420624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Q2.  화살표를 옮기려면 무엇을 움직일까요?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005840" y="4846320"/>
            <a:ext cx="10149840" cy="502920"/>
          </a:xfrm>
          <a:prstGeom prst="roundRect">
            <a:avLst>
              <a:gd name="adj" fmla="val 14545"/>
            </a:avLst>
          </a:prstGeom>
          <a:solidFill>
            <a:srgbClr val="E7F7EE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484632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정답:  마우스 를 움직여요.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BF4"/>
          </a:solidFill>
          <a:ln/>
        </p:spPr>
      </p:sp>
      <p:sp>
        <p:nvSpPr>
          <p:cNvPr id="3" name="Shape 1"/>
          <p:cNvSpPr/>
          <p:nvPr/>
        </p:nvSpPr>
        <p:spPr>
          <a:xfrm>
            <a:off x="5318608" y="1097280"/>
            <a:ext cx="1554480" cy="1554480"/>
          </a:xfrm>
          <a:prstGeom prst="ellipse">
            <a:avLst/>
          </a:prstGeom>
          <a:solidFill>
            <a:srgbClr val="E7F7EE"/>
          </a:solidFill>
          <a:ln/>
        </p:spPr>
      </p:sp>
      <p:sp>
        <p:nvSpPr>
          <p:cNvPr id="4" name="Text 2"/>
          <p:cNvSpPr/>
          <p:nvPr/>
        </p:nvSpPr>
        <p:spPr>
          <a:xfrm>
            <a:off x="5318608" y="10972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288036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배웠어요! 이제 직접 해 봐요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379476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Giỏi lắm! Bây giờ hãy tự làm thử  ·  Молодец! Теперь попробуй сам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67048" y="4572000"/>
            <a:ext cx="3657600" cy="73152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67048" y="45720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 마우스 미션 실습 시작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컴퓨터와 마우스 친해지기 (1회차 1시수) — 테스트 이론 덱</dc:title>
  <dc:subject>PptxGenJS Presentation</dc:subject>
  <dc:creator>Claude Code (test)</dc:creator>
  <cp:lastModifiedBy>Claude Code (test)</cp:lastModifiedBy>
  <cp:revision>1</cp:revision>
  <dcterms:created xsi:type="dcterms:W3CDTF">2026-06-28T09:13:25Z</dcterms:created>
  <dcterms:modified xsi:type="dcterms:W3CDTF">2026-06-28T09:13:25Z</dcterms:modified>
</cp:coreProperties>
</file>